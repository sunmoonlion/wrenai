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83" r:id="rId21"/>
    <p:sldId id="28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564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070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4800" b="1" dirty="0">
                <a:solidFill>
                  <a:srgbClr val="F8F9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财务分析</a:t>
            </a:r>
            <a:r>
              <a:rPr lang="en-US" sz="4800" b="1" dirty="0">
                <a:solidFill>
                  <a:srgbClr val="F8F9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Agent 研究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B4D8"/>
                </a:solidFill>
              </a:rPr>
              <a:t>从现代数据栈到 WrenAI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核心问题与叙事逻辑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当 AI Agent 进入分析链路，瓶颈在于：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物理层：是否有干净、主题化的表 (dbt/ETL)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语义层：指标口径、Join 路径是否统一 (MetricFlow/MDL)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消费方分裂：人走 BI 看板，Agent 走 API/语义查询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准确性：纯 Text-to-SQL 有瓶颈，'收窄查询空间' 是解法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统一数据栈架构图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原始数据 → 数据建模 (dbt-core: staging/intermediate/marts)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  ↓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指标 / 语义层 (MetricFlow, Cube, LookML, MDL/WrenAI ...)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  ├→ BI (Superset, Metabase, Looker ...) ──→ [ 人 ]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  └→ Agent </a:t>
            </a:r>
            <a:r>
              <a:rPr lang="en-US" sz="1800" dirty="0" err="1">
                <a:solidFill>
                  <a:srgbClr val="F8F9FA"/>
                </a:solidFill>
              </a:rPr>
              <a:t>问数层</a:t>
            </a:r>
            <a:r>
              <a:rPr lang="en-US" sz="1800" dirty="0">
                <a:solidFill>
                  <a:srgbClr val="F8F9FA"/>
                </a:solidFill>
              </a:rPr>
              <a:t> 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zh-CN" altLang="en-US" sz="1800" dirty="0">
                <a:solidFill>
                  <a:srgbClr val="F8F9FA"/>
                </a:solidFill>
              </a:rPr>
              <a:t>财务分析</a:t>
            </a:r>
            <a:r>
              <a:rPr lang="en-US" altLang="zh-CN" sz="1800" dirty="0">
                <a:solidFill>
                  <a:srgbClr val="F8F9FA"/>
                </a:solidFill>
              </a:rPr>
              <a:t>agent</a:t>
            </a:r>
            <a:r>
              <a:rPr lang="en-US" sz="1800" dirty="0">
                <a:solidFill>
                  <a:srgbClr val="F8F9FA"/>
                </a:solidFill>
              </a:rPr>
              <a:t> </a:t>
            </a:r>
            <a:r>
              <a:rPr lang="en-US" sz="1800" dirty="0" err="1">
                <a:solidFill>
                  <a:srgbClr val="F8F9FA"/>
                </a:solidFill>
              </a:rPr>
              <a:t>是最后一环的消费者与护栏</a:t>
            </a:r>
            <a:r>
              <a:rPr lang="en-US" sz="1800" dirty="0">
                <a:solidFill>
                  <a:srgbClr val="F8F9FA"/>
                </a:solidFill>
              </a:rPr>
              <a:t>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§1. 历史演进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从 IT 报表到 Agent 分析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BI 的四个发展阶段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1. BI 1.0 (1990s): IT 中心化报表 (Cognos, Oracle BIEE)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2. BI 2.0 (2000s): 自助 BI、拖拽式 (Tableau, Power BI, Superset)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3. BI 3.0 / MDS (2015+): 云仓、dbt、Headless 语义层、BI as Code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4. Agent 分析 (2023+): NL 问数、MCP、语义层成为 AI 基础设施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§2. 背景层：dbt 与物理建模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表从哪来？Agent 面对什么？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dbt: 数据仓库的生产线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dbt-core: 开源建模核心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建模流程：raw → staging → intermediate → marts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核心价值：将原始 Schema 整理成 '业务可查的表'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物理护拦：无此层，语义层与 Agent 将面对混乱数据源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dbt 与 </a:t>
            </a:r>
            <a:r>
              <a:rPr lang="zh-CN" altLang="en-US" sz="2400" b="1" dirty="0">
                <a:solidFill>
                  <a:srgbClr val="00B4D8"/>
                </a:solidFill>
              </a:rPr>
              <a:t>财务分析</a:t>
            </a:r>
            <a:r>
              <a:rPr lang="en-US" altLang="zh-CN" sz="2400" b="1" dirty="0">
                <a:solidFill>
                  <a:srgbClr val="00B4D8"/>
                </a:solidFill>
              </a:rPr>
              <a:t>agent</a:t>
            </a:r>
            <a:r>
              <a:rPr lang="en-US" sz="2400" b="1" dirty="0">
                <a:solidFill>
                  <a:srgbClr val="00B4D8"/>
                </a:solidFill>
              </a:rPr>
              <a:t> 的协作关系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分工：dbt </a:t>
            </a:r>
            <a:r>
              <a:rPr lang="en-US" sz="1800" dirty="0" err="1">
                <a:solidFill>
                  <a:srgbClr val="F8F9FA"/>
                </a:solidFill>
              </a:rPr>
              <a:t>负责批量物理建模</a:t>
            </a:r>
            <a:r>
              <a:rPr lang="en-US" sz="1800" dirty="0">
                <a:solidFill>
                  <a:srgbClr val="F8F9FA"/>
                </a:solidFill>
              </a:rPr>
              <a:t>；</a:t>
            </a:r>
            <a:r>
              <a:rPr lang="zh-CN" altLang="en-US" dirty="0">
                <a:solidFill>
                  <a:srgbClr val="F8F9FA"/>
                </a:solidFill>
              </a:rPr>
              <a:t>财务分析</a:t>
            </a:r>
            <a:r>
              <a:rPr lang="en-US" altLang="zh-CN" dirty="0" err="1">
                <a:solidFill>
                  <a:srgbClr val="F8F9FA"/>
                </a:solidFill>
              </a:rPr>
              <a:t>agent</a:t>
            </a:r>
            <a:r>
              <a:rPr lang="en-US" sz="1800" dirty="0" err="1">
                <a:solidFill>
                  <a:srgbClr val="F8F9FA"/>
                </a:solidFill>
              </a:rPr>
              <a:t>负责</a:t>
            </a:r>
            <a:r>
              <a:rPr lang="en-US" sz="1800" dirty="0">
                <a:solidFill>
                  <a:srgbClr val="F8F9FA"/>
                </a:solidFill>
              </a:rPr>
              <a:t> Agent 自然语言接口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依赖度：可以没有 dbt (用脚本导入)，但推荐生产栈：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[ dbt marts ] → [ 语义层/Wren MDL ] → [ Agent ]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</a:t>
            </a:r>
            <a:r>
              <a:rPr lang="zh-CN" altLang="en-US" dirty="0">
                <a:solidFill>
                  <a:srgbClr val="F8F9FA"/>
                </a:solidFill>
              </a:rPr>
              <a:t>财务分析</a:t>
            </a:r>
            <a:r>
              <a:rPr lang="en-US" altLang="zh-CN" dirty="0" err="1">
                <a:solidFill>
                  <a:srgbClr val="F8F9FA"/>
                </a:solidFill>
              </a:rPr>
              <a:t>agent</a:t>
            </a:r>
            <a:r>
              <a:rPr lang="en-US" sz="1800" dirty="0" err="1">
                <a:solidFill>
                  <a:srgbClr val="F8F9FA"/>
                </a:solidFill>
              </a:rPr>
              <a:t>主要是</a:t>
            </a:r>
            <a:r>
              <a:rPr lang="en-US" sz="1800" dirty="0">
                <a:solidFill>
                  <a:srgbClr val="F8F9FA"/>
                </a:solidFill>
              </a:rPr>
              <a:t> marts 的出口之一，与传统 BI 并行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§3. 语义层生态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定义、竞品与 2025 博弈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什么是语义层 (Semantic Layer)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核心能力：统一指标、维度、Join 关系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查询逻辑：引擎根据定义生成 SQL，避免 BI 与 Agent 各自为战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头部工具：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- dbt + MetricFlow (指标→SQL)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- Cube (API、缓存、预聚合)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  - Malloy (语义建模语言 + MCP)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消费分歧：人 vs Agent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BI (人)：关注图表、看板、协作。消费 marts 表或指标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Agent：关注 可执行边界 (允许哪些模型/Join/策略/校验)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架构演进：从 '单体 BI' 到 '建模+语义+展示+Agent' </a:t>
            </a:r>
            <a:r>
              <a:rPr lang="en-US" sz="1800" dirty="0" err="1">
                <a:solidFill>
                  <a:srgbClr val="F8F9FA"/>
                </a:solidFill>
              </a:rPr>
              <a:t>的分层系统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§4. BI 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给人看的分析与 Excel 的韧性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BI 工具生态速查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Superset: SQL-first, 强可视化 (72k Stars)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Metabase: 低门槛自助 BI, 业务友好 (44k Stars)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Rill / Evidence: BI-as-Code, 运营极速看板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Grafana: 可观测性/时序监控 (71k Stars)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Excel: 韧性极强，因 '可确定性' 与 'What-if' 场景暂无法替代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§5. 治理、质量与 NL2SQL 争论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治理与质量：Agent 的地图与护栏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数据目录 (DataHub/OpenMetadata): 告知 Agent 哪张表权威、字段含义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数据质量 (Elementary/Soda): 前置数据质量观测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风险点：底层缺值或口径不一，Agent 会 '自信地答错'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建议栈：[ 治理层 ] → [ 语义层 ] → [ WrenAI ]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Text-to-SQL vs Text-to-Semantic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Text-to-SQL (Vanna): 喂 Schema/示例给 LLM 猜 SQL (天花板明显)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Text-to-Semantic (WrenAI/Cube): 对语义对象提问，由引擎出 SQL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行业共识：Snowflake 等巨头转向语义层路线，标志着该方向的承认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WrenAI 优势：收窄查询空间，提高大模型在 BI 场景的准确度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§6. </a:t>
            </a:r>
            <a:r>
              <a:rPr lang="en-US" sz="3600" b="1" dirty="0" err="1">
                <a:solidFill>
                  <a:srgbClr val="00B4D8"/>
                </a:solidFill>
              </a:rPr>
              <a:t>重点</a:t>
            </a:r>
            <a:r>
              <a:rPr lang="zh-CN" altLang="en-US" sz="3600" b="1" dirty="0">
                <a:solidFill>
                  <a:srgbClr val="00B4D8"/>
                </a:solidFill>
              </a:rPr>
              <a:t>：财务分析</a:t>
            </a:r>
            <a:r>
              <a:rPr lang="en-US" altLang="zh-CN" sz="3600" b="1" dirty="0">
                <a:solidFill>
                  <a:srgbClr val="00B4D8"/>
                </a:solidFill>
              </a:rPr>
              <a:t>agent</a:t>
            </a:r>
            <a:r>
              <a:rPr lang="en-US" sz="3600" b="1" dirty="0">
                <a:solidFill>
                  <a:srgbClr val="00B4D8"/>
                </a:solidFill>
              </a:rPr>
              <a:t> 解析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Agent 问数的开放上下文层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B4D8"/>
                </a:solidFill>
              </a:rPr>
              <a:t>WrenAI: 解决什么核心问题？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问题 1: Agent 直连数仓易猜错表、字段与口径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问题 2: 口径散落在表、文档、SQL 与人脑中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问题 3: 多 Agent </a:t>
            </a:r>
            <a:r>
              <a:rPr lang="en-US" sz="1800" dirty="0" err="1">
                <a:solidFill>
                  <a:srgbClr val="F8F9FA"/>
                </a:solidFill>
              </a:rPr>
              <a:t>需要共享同一套上下文与权限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400" b="1" dirty="0">
                <a:solidFill>
                  <a:srgbClr val="00B4D8"/>
                </a:solidFill>
              </a:rPr>
              <a:t>财务分析</a:t>
            </a:r>
            <a:r>
              <a:rPr lang="en-US" altLang="zh-CN" sz="2400" b="1" dirty="0">
                <a:solidFill>
                  <a:srgbClr val="00B4D8"/>
                </a:solidFill>
              </a:rPr>
              <a:t>agent</a:t>
            </a:r>
            <a:r>
              <a:rPr lang="en-US" sz="2400" b="1" dirty="0">
                <a:solidFill>
                  <a:srgbClr val="00B4D8"/>
                </a:solidFill>
              </a:rPr>
              <a:t> 核心组件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600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MDL: 定义 Model, Relationship, Metrics, RLAC/CLAC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Engine (Apache DataFusion): 跨 </a:t>
            </a:r>
            <a:r>
              <a:rPr lang="en-US" sz="1800" dirty="0" err="1">
                <a:solidFill>
                  <a:srgbClr val="F8F9FA"/>
                </a:solidFill>
              </a:rPr>
              <a:t>数据源的语义引擎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Memory (LanceDB): 可版本化、可检索历史问法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8F9FA"/>
                </a:solidFill>
              </a:rPr>
              <a:t>• SDK/Skills: LangChain/LangGraph 集成，教 Agent 驱动 CLI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</a:rPr>
              <a:t>§8. 结论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三个判断与最终站位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8F9FA"/>
                </a:solidFill>
              </a:rPr>
              <a:t>感谢关注！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657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1800">
                <a:solidFill>
                  <a:srgbClr val="00B4D8"/>
                </a:solidFill>
              </a:rPr>
              <a:t>财务分析</a:t>
            </a:r>
            <a:r>
              <a:rPr lang="en-US" sz="1800">
                <a:solidFill>
                  <a:srgbClr val="00B4D8"/>
                </a:solidFill>
              </a:rPr>
              <a:t>Agent </a:t>
            </a:r>
            <a:r>
              <a:rPr lang="en-US" sz="1800" dirty="0">
                <a:solidFill>
                  <a:srgbClr val="00B4D8"/>
                </a:solidFill>
              </a:rPr>
              <a:t>研究报告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689</Words>
  <Application>Microsoft Office PowerPoint</Application>
  <PresentationFormat>全屏显示(16:9)</PresentationFormat>
  <Paragraphs>103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6" baseType="lpstr">
      <vt:lpstr>等线</vt:lpstr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zym</cp:lastModifiedBy>
  <cp:revision>3</cp:revision>
  <dcterms:created xsi:type="dcterms:W3CDTF">2026-05-24T08:37:56Z</dcterms:created>
  <dcterms:modified xsi:type="dcterms:W3CDTF">2026-05-24T12:23:09Z</dcterms:modified>
</cp:coreProperties>
</file>